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This deck walks through the Guideline Layer we proposed in our IEEE paper, the local proof-of-concept implementation, and what the results mean. Goal: show that resource profiling can run alongside any ETA model without touching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Accuracy is a necessary but not sufficient condition for deployment. Every survey we read reports MAE/RMSE/R2; almost none report the compute footprint. That gap is what the Guideline Layer addresses.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modules form a closed loop: observe, compare, escalate, log. The ETA model in the middle is never touched. This is the paper's core design claim, and the demo verifies it with three different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four numbers come straight from the paper. They are calibration starting points; the implementation makes every one of them a config value, so each device class gets its own policy.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code mirrors the paper's architecture module for module. Three models of increasing complexity run through the same layer, so we can show it is genuinely model-agnostic.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cannot use a real city's GPS feed in a self-contained PoC, so the data generator builds a plausible corridor with realistic traffic and weather effects. The model interface (fit/predict) is identical to what real data would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headline: gradient boosting and the deep network are within ~1 s of each other on MAE. So on this data, the deep model buys almost nothing in accuracy — its real cost shows up next, in resources. That is exactly why profiling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layer's key output: a resource report next to every ETA. The deep model violates the CPU threshold; the lightweight model does not, at equal accuracy. The monitoring data makes the trade-off visible instead of guessed.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Zoom into one model's trip: CPU is sampled each stop, every breach is a red triangle. Alerts are de-duplicated by a 120 s cooldown (hence 1,728 violations become 432 alerts) and escalate to critical if they persist. The hint tells the operator WHAT to do — prune, reduce frequency, or swap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layer separates 'within policy' from 'breaching policy' cleanly. Only the deep model triggers alerts, and each alert is actionable. This is the governance the paper argues the field lacks.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Wall time ON vs OFF is within noise for every model — the differences shown are run-to-run variance, not the layer. The layer's work is a few microseconds of counter sampling per cycle plus a tiny log append.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takeaways map the numbers back to the paper's claims: accuracy is not deployability; profiling makes the trade-off visible; enforcement is continuous; and the layer is additive by construction.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pre-empt the obvious objection: the CPU/battery figures are modelled for the paper's target device class. The honest framing is 'mechanism demonstrated on synthetic data'; measured numbers come in the next phase with real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phase has a clear deliverable and reuses the same pipeline, so progress is incremental and demoable at every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Invite questions. Anticipated: 'is the CPU number made up?' — raw measurements are real and logged; the sustained % is a transparent model for embedded hardware. 'Does it slow things down?' — overhead is within noise. 'Why is the deep model not more accurate?' — see ref [12]; its cost is resources, which is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069080"/>
            <a:ext cx="12191695" cy="254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Guideline Layer for ETA Prediction in Smart Transportation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BFD3EE"/>
                </a:solidFill>
                <a:latin typeface="Calibri"/>
              </a:rPr>
              <a:t>Based on Resource Awareness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Proof of Concept — Implementation &amp; Results Interpretation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834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 i="0">
                <a:solidFill>
                  <a:srgbClr val="D8E2F3"/>
                </a:solidFill>
                <a:latin typeface="Calibri"/>
              </a:rPr>
              <a:t>Elango K (23AI016)  ·  Gokul C (23AI018)  ·  Kavitha K (23AI027)
Dept. of Artificial Intelligence and Data Science
Nandha Engineering College (Autonomous), Erode, Tamil Nadu, India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The Problem: Accurate ETA Models That Can't Ship</a:t>
            </a:r>
          </a:p>
          <a:p>
            <a:r>
              <a:rPr sz="1300" b="0" i="0">
                <a:solidFill>
                  <a:srgbClr val="BFD3EE"/>
                </a:solidFill>
                <a:latin typeface="Calibri"/>
              </a:rPr>
              <a:t>Motivation · Paper Section V (Research Gaps)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•  Deep learning (LSTM, GRU, Transformers) achieves strong ETA accuracy — R² ≈ 0.93, MAE ≈ 18.5 s [1]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•  But the literature reports accuracy metrics almost exclusively:</a:t>
            </a:r>
          </a:p>
          <a:p>
            <a:pPr lvl="1">
              <a:lnSpc>
                <a:spcPct val="105000"/>
              </a:lnSpc>
              <a:spcAft>
                <a:spcPts val="14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MAE / RMSE / R² — CPU load, RAM, battery drain and bandwidth are rarely reported [1],[2],[3],[16]</a:t>
            </a:r>
          </a:p>
          <a:p>
            <a:pPr lvl="1">
              <a:lnSpc>
                <a:spcPct val="105000"/>
              </a:lnSpc>
              <a:spcAft>
                <a:spcPts val="14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Models that win benchmarks fail on real constrained devices (smartphones, ESP32-class hardware)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•  Resource Profiling Gap — the focus of our research (Paper Section V)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•  Question we answer: can a system enforce resource-aware design WITHOUT rewriting the prediction model?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5394960"/>
            <a:ext cx="5120640" cy="822960"/>
          </a:xfrm>
          <a:prstGeom prst="round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Accuracy — reported everywhere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5394960"/>
            <a:ext cx="5120640" cy="822960"/>
          </a:xfrm>
          <a:prstGeom prst="roundRect">
            <a:avLst/>
          </a:prstGeom>
          <a:solidFill>
            <a:srgbClr val="D627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Resource cost — rarely reported  ✗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Proposed Solution — The Guideline Layer</a:t>
            </a:r>
          </a:p>
          <a:p>
            <a:r>
              <a:rPr sz="1300" b="0" i="0">
                <a:solidFill>
                  <a:srgbClr val="BFD3EE"/>
                </a:solidFill>
                <a:latin typeface="Calibri"/>
              </a:rPr>
              <a:t>A modular, model-agnostic addition · Paper Section VI-A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2743200" cy="1143000"/>
          </a:xfrm>
          <a:prstGeom prst="round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 · Monitoring Engine
observe CPU / RAM /
battery / bandwidth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78240" y="1371600"/>
            <a:ext cx="2743200" cy="1143000"/>
          </a:xfrm>
          <a:prstGeom prst="round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 · Threshold Checker
compare vs benchmarks
(CPU ≤ 30% …)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78240" y="4160520"/>
            <a:ext cx="2743200" cy="1143000"/>
          </a:xfrm>
          <a:prstGeom prst="round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 · Warning System
alert + remediation hint
(prune / quantize)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160520"/>
            <a:ext cx="2743200" cy="1143000"/>
          </a:xfrm>
          <a:prstGeom prst="round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 · Logging Module
lightweight records +
periodic cloud sync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2606040"/>
            <a:ext cx="3566160" cy="1463040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ETA Prediction Model
(LSTM / GRU / XGBoost)
— unchanged —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383280" y="1938528"/>
            <a:ext cx="5394960" cy="0"/>
          </a:xfrm>
          <a:prstGeom prst="line">
            <a:avLst/>
          </a:prstGeom>
          <a:ln w="28575">
            <a:solidFill>
              <a:srgbClr val="1F7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760720" y="1682496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77B4"/>
                </a:solidFill>
                <a:latin typeface="Calibri"/>
              </a:rPr>
              <a:t>compare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149840" y="2514600"/>
            <a:ext cx="0" cy="1645920"/>
          </a:xfrm>
          <a:prstGeom prst="line">
            <a:avLst/>
          </a:prstGeom>
          <a:ln w="28575">
            <a:solidFill>
              <a:srgbClr val="1F7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829800" y="308152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77B4"/>
                </a:solidFill>
                <a:latin typeface="Calibri"/>
              </a:rPr>
              <a:t>escalate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3383280" y="4736592"/>
            <a:ext cx="5394960" cy="0"/>
          </a:xfrm>
          <a:prstGeom prst="line">
            <a:avLst/>
          </a:prstGeom>
          <a:ln w="28575">
            <a:solidFill>
              <a:srgbClr val="1F7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760720" y="44805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77B4"/>
                </a:solidFill>
                <a:latin typeface="Calibri"/>
              </a:rPr>
              <a:t>log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2011680" y="2514600"/>
            <a:ext cx="0" cy="1645920"/>
          </a:xfrm>
          <a:prstGeom prst="line">
            <a:avLst/>
          </a:prstGeom>
          <a:ln w="28575">
            <a:solidFill>
              <a:srgbClr val="1F7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691640" y="308152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77B4"/>
                </a:solidFill>
                <a:latin typeface="Calibri"/>
              </a:rPr>
              <a:t>observe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7863840" y="2788920"/>
            <a:ext cx="91439" cy="411480"/>
          </a:xfrm>
          <a:prstGeom prst="line">
            <a:avLst/>
          </a:prstGeom>
          <a:ln w="28575">
            <a:solidFill>
              <a:srgbClr val="1F7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657600" y="12344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data (GPS, traffic, weather)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32918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profiled every inference cycle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669280"/>
            <a:ext cx="10881360" cy="777240"/>
          </a:xfrm>
          <a:prstGeom prst="rect">
            <a:avLst/>
          </a:prstGeom>
          <a:solidFill>
            <a:srgbClr val="E8F0FA"/>
          </a:solidFill>
          <a:ln w="1270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3864"/>
                </a:solidFill>
                <a:latin typeface="Calibri"/>
              </a:rPr>
              <a:t>The layer is NOT a model — it runs alongside the predictor, so any ETA model can be profiled without modification.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The Four Profiling Benchmarks</a:t>
            </a:r>
          </a:p>
          <a:p>
            <a:r>
              <a:rPr sz="1300" b="0" i="0">
                <a:solidFill>
                  <a:srgbClr val="BFD3EE"/>
                </a:solidFill>
                <a:latin typeface="Calibri"/>
              </a:rPr>
              <a:t>Paper Section VI-D — practical starting points, not hard rules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2606040" cy="2377440"/>
          </a:xfrm>
          <a:prstGeom prst="round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RAM ≤ 500 MB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069080"/>
            <a:ext cx="2331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Fits smartphones and embedded
devices without crashes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47288" y="1554480"/>
            <a:ext cx="2606040" cy="2377440"/>
          </a:xfrm>
          <a:prstGeom prst="roundRect">
            <a:avLst/>
          </a:prstGeom>
          <a:solidFill>
            <a:srgbClr val="FF7F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CPU ≤ 30%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84448" y="4069080"/>
            <a:ext cx="2331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Keeps the device responsive,
headroom for other apps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554480"/>
            <a:ext cx="2606040" cy="2377440"/>
          </a:xfrm>
          <a:prstGeom prst="round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Battery ≤ 20% / hr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91656" y="4069080"/>
            <a:ext cx="2331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A full working day on
battery power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61704" y="1554480"/>
            <a:ext cx="2606040" cy="2377440"/>
          </a:xfrm>
          <a:prstGeom prst="roundRect">
            <a:avLst/>
          </a:prstGeom>
          <a:solidFill>
            <a:srgbClr val="D627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Bandwidth ≤ 1 MB /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98864" y="4069080"/>
            <a:ext cx="2331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Usable on poor connections,
lower cloud costs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669280"/>
            <a:ext cx="10881360" cy="777240"/>
          </a:xfrm>
          <a:prstGeom prst="rect">
            <a:avLst/>
          </a:prstGeom>
          <a:solidFill>
            <a:srgbClr val="F2F2F2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333333"/>
                </a:solidFill>
                <a:latin typeface="Calibri"/>
              </a:rPr>
              <a:t>Thresholds are tunable per device class — a smartphone may be RAM-hungry, a rural fleet bandwidth-constrained.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From Paper to Code — One Command End-to-End</a:t>
            </a:r>
          </a:p>
          <a:p>
            <a:r>
              <a:rPr sz="1300" b="0" i="0">
                <a:solidFill>
                  <a:srgbClr val="BFD3EE"/>
                </a:solidFill>
                <a:latin typeface="Calibri"/>
              </a:rPr>
              <a:t>python run_experiment.py  →  data · train · simulate · analyze · report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63040"/>
          <a:ext cx="108813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023360"/>
                <a:gridCol w="4389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Paper module</a:t>
                      </a:r>
                    </a:p>
                  </a:txBody>
                  <a:tcPr marL="91440" marR="91440" marT="18288" marB="18288" anchor="t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Implementation</a:t>
                      </a:r>
                    </a:p>
                  </a:txBody>
                  <a:tcPr marL="91440" marR="91440" marT="18288" marB="18288" anchor="t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Role in the PoC</a:t>
                      </a:r>
                    </a:p>
                  </a:txBody>
                  <a:tcPr marL="91440" marR="91440" marT="18288" marB="18288" anchor="t"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333333"/>
                          </a:solidFill>
                          <a:latin typeface="Calibri"/>
                        </a:rPr>
                        <a:t>Monitoring Engine</a:t>
                      </a:r>
                    </a:p>
                  </a:txBody>
                  <a:tcPr marL="91440" marR="91440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Calibri"/>
                        </a:rPr>
                        <a:t>guideline_layer/monitoring.py</a:t>
                      </a:r>
                    </a:p>
                  </a:txBody>
                  <a:tcPr marL="91440" marR="91440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Calibri"/>
                        </a:rPr>
                        <a:t>Samples CPU/RAM/battery/bandwidth per inference cycle</a:t>
                      </a:r>
                    </a:p>
                  </a:txBody>
                  <a:tcPr marL="91440" marR="91440" marT="18288" marB="18288" anchor="t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333333"/>
                          </a:solidFill>
                          <a:latin typeface="Calibri"/>
                        </a:rPr>
                        <a:t>Threshold Checker</a:t>
                      </a:r>
                    </a:p>
                  </a:txBody>
                  <a:tcPr marL="91440" marR="91440" marT="18288" marB="18288" anchor="t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Calibri"/>
                        </a:rPr>
                        <a:t>guideline_layer/thresholds.py</a:t>
                      </a:r>
                    </a:p>
                  </a:txBody>
                  <a:tcPr marL="91440" marR="91440" marT="18288" marB="18288" anchor="t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Calibri"/>
                        </a:rPr>
                        <a:t>Compares usage against the four benchmarks</a:t>
                      </a:r>
                    </a:p>
                  </a:txBody>
                  <a:tcPr marL="91440" marR="91440" marT="18288" marB="18288" anchor="t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333333"/>
                          </a:solidFill>
                          <a:latin typeface="Calibri"/>
                        </a:rPr>
                        <a:t>Warning System</a:t>
                      </a:r>
                    </a:p>
                  </a:txBody>
                  <a:tcPr marL="91440" marR="91440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Calibri"/>
                        </a:rPr>
                        <a:t>guideline_layer/warnings.py</a:t>
                      </a:r>
                    </a:p>
                  </a:txBody>
                  <a:tcPr marL="91440" marR="91440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Calibri"/>
                        </a:rPr>
                        <a:t>Alerts with remediation hints, cooldown + escalation</a:t>
                      </a:r>
                    </a:p>
                  </a:txBody>
                  <a:tcPr marL="91440" marR="91440" marT="18288" marB="18288" anchor="t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333333"/>
                          </a:solidFill>
                          <a:latin typeface="Calibri"/>
                        </a:rPr>
                        <a:t>Logging Module</a:t>
                      </a:r>
                    </a:p>
                  </a:txBody>
                  <a:tcPr marL="91440" marR="91440" marT="18288" marB="18288" anchor="t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Calibri"/>
                        </a:rPr>
                        <a:t>guideline_layer/logging_module.py</a:t>
                      </a:r>
                    </a:p>
                  </a:txBody>
                  <a:tcPr marL="91440" marR="91440" marT="18288" marB="18288" anchor="t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Calibri"/>
                        </a:rPr>
                        <a:t>JSONL records + periodic sync to simulated fleet cloud</a:t>
                      </a:r>
                    </a:p>
                  </a:txBody>
                  <a:tcPr marL="91440" marR="91440" marT="18288" marB="18288" anchor="t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333333"/>
                          </a:solidFill>
                          <a:latin typeface="Calibri"/>
                        </a:rPr>
                        <a:t>Closed loop (Fig. 2)</a:t>
                      </a:r>
                    </a:p>
                  </a:txBody>
                  <a:tcPr marL="91440" marR="91440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Calibri"/>
                        </a:rPr>
                        <a:t>guideline_layer/layer.py</a:t>
                      </a:r>
                    </a:p>
                  </a:txBody>
                  <a:tcPr marL="91440" marR="91440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Calibri"/>
                        </a:rPr>
                        <a:t>Observe → compare → escalate → log</a:t>
                      </a:r>
                    </a:p>
                  </a:txBody>
                  <a:tcPr marL="91440" marR="91440" marT="18288" marB="18288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02920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 Three pluggable ETA models: linear (traditional ML) · gradient_boosting (XGBoost-class) · mlp (deep stand-in for LSTM/GRU)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 Every model simulated with the Guideline Layer ON and OFF → overhead measured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 Full run ≈ 30 s on a laptop, fully reproducible (seed 42)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Experimental Setup</a:t>
            </a:r>
          </a:p>
          <a:p>
            <a:r>
              <a:rPr sz="1300" b="0" i="0">
                <a:solidFill>
                  <a:srgbClr val="BFD3EE"/>
                </a:solidFill>
                <a:latin typeface="Calibri"/>
              </a:rPr>
              <a:t>Synthetic data — deterministic and reproducible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Synthetic urban corridor: 18 stops, 30 days × 16 trips/day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≈ 8,600 stop-observations; train/test split by trip (no leakage)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Ground truth from a physics-based model: distance / speed, modulated by</a:t>
            </a:r>
          </a:p>
          <a:p>
            <a:pPr lvl="1">
              <a:lnSpc>
                <a:spcPct val="105000"/>
              </a:lnSpc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time-of-day traffic (peak hours), weather (clear / rain / fog), stop dwell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At every stop the model predicts remaining time to the terminal (the ETA)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Three models spanning the accuracy–resource trade-off:</a:t>
            </a:r>
          </a:p>
          <a:p>
            <a:pPr lvl="1">
              <a:lnSpc>
                <a:spcPct val="105000"/>
              </a:lnSpc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linear — traditional ML baseline</a:t>
            </a:r>
          </a:p>
          <a:p>
            <a:pPr lvl="1">
              <a:lnSpc>
                <a:spcPct val="105000"/>
              </a:lnSpc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gradient_boosting — XGBoost-class (paper ref [12]: MAE ≈ 16 s in Phnom Penh)</a:t>
            </a:r>
          </a:p>
          <a:p>
            <a:pPr lvl="1">
              <a:lnSpc>
                <a:spcPct val="105000"/>
              </a:lnSpc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mlp — deep-model stand-in for the LSTM/GRU class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Guideline Layer ON and OFF for each model → measures the layer's own cost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Results 1 — ETA Accuracy: Prediction Quality Is Preserved</a:t>
            </a:r>
          </a:p>
          <a:p>
            <a:r>
              <a:rPr sz="1300" b="0" i="0">
                <a:solidFill>
                  <a:srgbClr val="BFD3EE"/>
                </a:solidFill>
                <a:latin typeface="Calibri"/>
              </a:rPr>
              <a:t>Layer ON vs OFF identical (the layer never touches the model)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512064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22960"/>
                <a:gridCol w="822960"/>
                <a:gridCol w="7315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91440" marR="91440" marT="18288" marB="18288" anchor="t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MAE (s)</a:t>
                      </a:r>
                    </a:p>
                  </a:txBody>
                  <a:tcPr marL="91440" marR="91440" marT="18288" marB="18288" anchor="t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RMSE (s)</a:t>
                      </a:r>
                    </a:p>
                  </a:txBody>
                  <a:tcPr marL="91440" marR="91440" marT="18288" marB="18288" anchor="t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R²</a:t>
                      </a:r>
                    </a:p>
                  </a:txBody>
                  <a:tcPr marL="91440" marR="91440" marT="18288" marB="18288" anchor="t"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333333"/>
                          </a:solidFill>
                          <a:latin typeface="Calibri"/>
                        </a:rPr>
                        <a:t>linear (traditional ML)</a:t>
                      </a:r>
                    </a:p>
                  </a:txBody>
                  <a:tcPr marL="91440" marR="91440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Calibri"/>
                        </a:rPr>
                        <a:t>191.0</a:t>
                      </a:r>
                    </a:p>
                  </a:txBody>
                  <a:tcPr marL="91440" marR="91440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Calibri"/>
                        </a:rPr>
                        <a:t>270.7</a:t>
                      </a:r>
                    </a:p>
                  </a:txBody>
                  <a:tcPr marL="91440" marR="91440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Calibri"/>
                        </a:rPr>
                        <a:t>0.9082</a:t>
                      </a:r>
                    </a:p>
                  </a:txBody>
                  <a:tcPr marL="91440" marR="91440" marT="18288" marB="18288" anchor="t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333333"/>
                          </a:solidFill>
                          <a:latin typeface="Calibri"/>
                        </a:rPr>
                        <a:t>gradient_boosting (XGBoost-class)</a:t>
                      </a:r>
                    </a:p>
                  </a:txBody>
                  <a:tcPr marL="91440" marR="91440" marT="18288" marB="18288" anchor="t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Calibri"/>
                        </a:rPr>
                        <a:t>140.8</a:t>
                      </a:r>
                    </a:p>
                  </a:txBody>
                  <a:tcPr marL="91440" marR="91440" marT="18288" marB="18288" anchor="t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Calibri"/>
                        </a:rPr>
                        <a:t>255.7</a:t>
                      </a:r>
                    </a:p>
                  </a:txBody>
                  <a:tcPr marL="91440" marR="91440" marT="18288" marB="18288" anchor="t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Calibri"/>
                        </a:rPr>
                        <a:t>0.9181</a:t>
                      </a:r>
                    </a:p>
                  </a:txBody>
                  <a:tcPr marL="91440" marR="91440" marT="18288" marB="18288" anchor="t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333333"/>
                          </a:solidFill>
                          <a:latin typeface="Calibri"/>
                        </a:rPr>
                        <a:t>mlp (deep-model stand-in)</a:t>
                      </a:r>
                    </a:p>
                  </a:txBody>
                  <a:tcPr marL="91440" marR="91440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Calibri"/>
                        </a:rPr>
                        <a:t>151.1</a:t>
                      </a:r>
                    </a:p>
                  </a:txBody>
                  <a:tcPr marL="91440" marR="91440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Calibri"/>
                        </a:rPr>
                        <a:t>245.7</a:t>
                      </a:r>
                    </a:p>
                  </a:txBody>
                  <a:tcPr marL="91440" marR="91440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Calibri"/>
                        </a:rPr>
                        <a:t>0.9243</a:t>
                      </a:r>
                    </a:p>
                  </a:txBody>
                  <a:tcPr marL="91440" marR="91440" marT="18288" marB="18288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ta_predi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08960"/>
            <a:ext cx="4025189" cy="3246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09360" y="146304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Lightweight model matches the deep model: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MAE 140.8 s vs 151.1 s — 10.3 s apart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Consistent with ref [12]: XGBoost beat heavier models in Phnom Penh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Traditional linear regression is not expressive enough for ETA (MAE 191 s)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⇒ accuracy alone cannot justify the deep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Results 2 — Resource Profiles: Where the Deep Model Pays</a:t>
            </a:r>
          </a:p>
          <a:p>
            <a:r>
              <a:rPr sz="1300" b="0" i="0">
                <a:solidFill>
                  <a:srgbClr val="BFD3EE"/>
                </a:solidFill>
                <a:latin typeface="Calibri"/>
              </a:rPr>
              <a:t>Monitoring Engine output, averaged over 1,728 inference cycles per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6766560" cy="48199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89520" y="1371600"/>
            <a:ext cx="4114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 mlp sustains 45.4% CPU — BREACHES the 30% ceiling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 gradient_boosting uses 1.2% — well within limits</a:t>
            </a:r>
          </a:p>
          <a:p>
            <a:pPr lvl="1">
              <a:lnSpc>
                <a:spcPct val="105000"/>
              </a:lnSpc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≈ 97% less sustained CPU for the same accuracy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 RAM: every model fits the 500 MB budget (largest 0.86 MB)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 Bandwidth: ~1.1 KB/min — edge-style payloads, batched cloud sync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 Battery: mlp drains ≈ 13%/hr vs ≈ 3%/hr for the light models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Results 3 — The Closed Loop in Action</a:t>
            </a:r>
          </a:p>
          <a:p>
            <a:r>
              <a:rPr sz="1300" b="0" i="0">
                <a:solidFill>
                  <a:srgbClr val="BFD3EE"/>
                </a:solidFill>
                <a:latin typeface="Calibri"/>
              </a:rPr>
              <a:t>Threshold Checker → Warning System, every inference 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source_time_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88720"/>
            <a:ext cx="565785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720840" y="128016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 CPU load monitored at every stop along the route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 Red triangles: each detected threshold breach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 1,728 violations for mlp → 432 alerts (cooldown de-duplicates)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 Alerts carry remediation hints, not just symptoms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20840" y="3383280"/>
            <a:ext cx="5029200" cy="2651760"/>
          </a:xfrm>
          <a:prstGeom prst="rect">
            <a:avLst/>
          </a:prstGeom>
          <a:noFill/>
        </p:spPr>
        <p:txBody>
          <a:bodyPr wrap="square" lIns="137160" tIns="109728">
            <a:spAutoFit/>
          </a:bodyPr>
          <a:lstStyle/>
          <a:p>
            <a:pPr>
              <a:spcAft>
                <a:spcPts val="200"/>
              </a:spcAft>
            </a:pPr>
            <a:r>
              <a:rPr sz="1100" b="0" i="0">
                <a:solidFill>
                  <a:srgbClr val="C02525"/>
                </a:solidFill>
                <a:latin typeface="Consolas"/>
              </a:rPr>
              <a:t>{"metric": "cpu_percent", "value": 45.4, "limit": 30.0,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C02525"/>
                </a:solidFill>
                <a:latin typeface="Consolas"/>
              </a:rPr>
              <a:t> "severity": "warning", "count": 1,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C02525"/>
                </a:solidFill>
                <a:latin typeface="Consolas"/>
              </a:rPr>
              <a:t> "hint": "CPU sustained load too high — consider pruning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C02525"/>
                </a:solidFill>
                <a:latin typeface="Consolas"/>
              </a:rPr>
              <a:t>          the model, reducing inference frequency, or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C02525"/>
                </a:solidFill>
                <a:latin typeface="Consolas"/>
              </a:rPr>
              <a:t>          switching to a lighter architecture"}</a:t>
            </a:r>
          </a:p>
        </p:txBody>
      </p:sp>
      <p:sp>
        <p:nvSpPr>
          <p:cNvPr id="7" name="Rectangle 6"/>
          <p:cNvSpPr/>
          <p:nvPr/>
        </p:nvSpPr>
        <p:spPr>
          <a:xfrm>
            <a:off x="6720840" y="5989320"/>
            <a:ext cx="5029200" cy="457200"/>
          </a:xfrm>
          <a:prstGeom prst="rect">
            <a:avLst/>
          </a:prstGeom>
          <a:solidFill>
            <a:srgbClr val="E8F0FA"/>
          </a:solidFill>
          <a:ln w="1270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3864"/>
                </a:solidFill>
                <a:latin typeface="Calibri"/>
              </a:rPr>
              <a:t>Logging Module: JSONL per cycle + periodic cloud sync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Results 4 — Violations &amp; Alerts by Model</a:t>
            </a:r>
          </a:p>
          <a:p>
            <a:r>
              <a:rPr sz="1300" b="0" i="0">
                <a:solidFill>
                  <a:srgbClr val="BFD3EE"/>
                </a:solidFill>
                <a:latin typeface="Calibri"/>
              </a:rPr>
              <a:t>Only the deep model breaches the policy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arn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4008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0" y="1463040"/>
            <a:ext cx="4480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•  linear: 0 violations — 0 alerts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•  gradient_boosting: 0 violations — 0 alerts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•  mlp: 1,728 violations → 432 alerts</a:t>
            </a:r>
          </a:p>
          <a:p>
            <a:pPr lvl="1">
              <a:lnSpc>
                <a:spcPct val="105000"/>
              </a:lnSpc>
              <a:spcAft>
                <a:spcPts val="10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every inference breaches the CPU policy</a:t>
            </a:r>
          </a:p>
          <a:p>
            <a:pPr lvl="1">
              <a:lnSpc>
                <a:spcPct val="105000"/>
              </a:lnSpc>
              <a:spcAft>
                <a:spcPts val="10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cooldown + escalation keep alerts actionable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•  The policy is enforced continuously — a one-off profile could never catch per-cycle drift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Results 5 — The Layer Costs Almost Nothing</a:t>
            </a:r>
          </a:p>
          <a:p>
            <a:r>
              <a:rPr sz="1300" b="0" i="0">
                <a:solidFill>
                  <a:srgbClr val="BFD3EE"/>
                </a:solidFill>
                <a:latin typeface="Calibri"/>
              </a:rPr>
              <a:t>Wall-time with the layer ON vs OFF (1728 inferences per model)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63040"/>
          <a:ext cx="68580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371600"/>
                <a:gridCol w="1371600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91440" marR="91440" marT="18288" marB="18288" anchor="t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Layer ON (s)</a:t>
                      </a:r>
                    </a:p>
                  </a:txBody>
                  <a:tcPr marL="91440" marR="91440" marT="18288" marB="18288" anchor="t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Layer OFF (s)</a:t>
                      </a:r>
                    </a:p>
                  </a:txBody>
                  <a:tcPr marL="91440" marR="91440" marT="18288" marB="18288" anchor="t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marL="91440" marR="91440" marT="18288" marB="18288" anchor="t"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333333"/>
                          </a:solidFill>
                          <a:latin typeface="Calibri"/>
                        </a:rPr>
                        <a:t>linear</a:t>
                      </a:r>
                    </a:p>
                  </a:txBody>
                  <a:tcPr marL="91440" marR="91440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Calibri"/>
                        </a:rPr>
                        <a:t>0.1</a:t>
                      </a:r>
                    </a:p>
                  </a:txBody>
                  <a:tcPr marL="91440" marR="91440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Calibri"/>
                        </a:rPr>
                        <a:t>0.1</a:t>
                      </a:r>
                    </a:p>
                  </a:txBody>
                  <a:tcPr marL="91440" marR="91440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Calibri"/>
                        </a:rPr>
                        <a:t>within noise</a:t>
                      </a:r>
                    </a:p>
                  </a:txBody>
                  <a:tcPr marL="91440" marR="91440" marT="18288" marB="18288" anchor="t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333333"/>
                          </a:solidFill>
                          <a:latin typeface="Calibri"/>
                        </a:rPr>
                        <a:t>gradient_boosting</a:t>
                      </a:r>
                    </a:p>
                  </a:txBody>
                  <a:tcPr marL="91440" marR="91440" marT="18288" marB="18288" anchor="t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Calibri"/>
                        </a:rPr>
                        <a:t>0.5</a:t>
                      </a:r>
                    </a:p>
                  </a:txBody>
                  <a:tcPr marL="91440" marR="91440" marT="18288" marB="18288" anchor="t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Calibri"/>
                        </a:rPr>
                        <a:t>0.4</a:t>
                      </a:r>
                    </a:p>
                  </a:txBody>
                  <a:tcPr marL="91440" marR="91440" marT="18288" marB="18288" anchor="t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Calibri"/>
                        </a:rPr>
                        <a:t>within noise</a:t>
                      </a:r>
                    </a:p>
                  </a:txBody>
                  <a:tcPr marL="91440" marR="91440" marT="18288" marB="18288" anchor="t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333333"/>
                          </a:solidFill>
                          <a:latin typeface="Calibri"/>
                        </a:rPr>
                        <a:t>mlp</a:t>
                      </a:r>
                    </a:p>
                  </a:txBody>
                  <a:tcPr marL="91440" marR="91440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Calibri"/>
                        </a:rPr>
                        <a:t>0.1</a:t>
                      </a:r>
                    </a:p>
                  </a:txBody>
                  <a:tcPr marL="91440" marR="91440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Calibri"/>
                        </a:rPr>
                        <a:t>0.1</a:t>
                      </a:r>
                    </a:p>
                  </a:txBody>
                  <a:tcPr marL="91440" marR="91440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Calibri"/>
                        </a:rPr>
                        <a:t>within noise</a:t>
                      </a:r>
                    </a:p>
                  </a:txBody>
                  <a:tcPr marL="91440" marR="91440" marT="18288" marB="18288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657600"/>
            <a:ext cx="10881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The layer samples OS counters and appends small JSONL records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It never touches the prediction path — overhead is negligible and dominated by run-to-run noise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Supports the paper's central claim: resource-aware design WITHOUT changing the underlying model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What This Means — Interpreting the Results</a:t>
            </a:r>
          </a:p>
          <a:p>
            <a:r>
              <a:rPr sz="1300" b="0" i="0">
                <a:solidFill>
                  <a:srgbClr val="BFD3EE"/>
                </a:solidFill>
                <a:latin typeface="Calibri"/>
              </a:rPr>
              <a:t>The point of the PoC in four bullets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3017520" cy="1005840"/>
          </a:xfrm>
          <a:prstGeom prst="round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Accuracy ≠ Deployability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417320"/>
            <a:ext cx="7680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The deep model matches the light model (MAE 151.1 s vs 140.8 s) yet uses ~30× the CPU. Accuracy alone cannot choose a model.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578608"/>
            <a:ext cx="3017520" cy="1005840"/>
          </a:xfrm>
          <a:prstGeom prst="round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Profiling Makes Trade-offs Visible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2624328"/>
            <a:ext cx="7680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The layer attaches a resource report to every ETA — the missing column in the literature's tables.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85616"/>
            <a:ext cx="3017520" cy="1005840"/>
          </a:xfrm>
          <a:prstGeom prst="roundRect">
            <a:avLst/>
          </a:prstGeom>
          <a:solidFill>
            <a:srgbClr val="FF7F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Policy, Enforced Continuously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3831336"/>
            <a:ext cx="7680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Per-inference threshold checks catch drift that one-off profiling misses; alerts name the remedy (prune / quantize / swap).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992624"/>
            <a:ext cx="3017520" cy="1005840"/>
          </a:xfrm>
          <a:prstGeom prst="roundRect">
            <a:avLst/>
          </a:prstGeom>
          <a:solidFill>
            <a:srgbClr val="D627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Truly Additive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5038344"/>
            <a:ext cx="7680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Runs beside any model, costs ~nothing, changes nothing — the deployment story the paper promises.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Limitations — Stated Honestly</a:t>
            </a:r>
          </a:p>
          <a:p>
            <a:r>
              <a:rPr sz="1300" b="0" i="0">
                <a:solidFill>
                  <a:srgbClr val="BFD3EE"/>
                </a:solidFill>
                <a:latin typeface="Calibri"/>
              </a:rPr>
              <a:t>What this PoC is and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•  Synthetic data: plausible route / traffic / weather model, not real observations (data/make_data.py)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•  Device model: CPU &amp; battery are modelled for embedded-class hardware (MACs-based calibration, see guideline_layer/config.py);</a:t>
            </a:r>
          </a:p>
          <a:p>
            <a:pPr lvl="1">
              <a:lnSpc>
                <a:spcPct val="105000"/>
              </a:lnSpc>
              <a:spcAft>
                <a:spcPts val="14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raw laptop measurements are logged in every inference record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•  The paper's ~35% saving figure is a literature comparison — this PoC demonstrates the mechanism, not a reproduction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•  Next step: real GTFS/GPS data + real hardware (ESP32 / Raspberry Pi) → measured numbers replace modelled ones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394960"/>
            <a:ext cx="10515600" cy="868680"/>
          </a:xfrm>
          <a:prstGeom prst="rect">
            <a:avLst/>
          </a:prstGeom>
          <a:solidFill>
            <a:srgbClr val="E8F0FA"/>
          </a:solidFill>
          <a:ln w="1270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3864"/>
                </a:solidFill>
                <a:latin typeface="Calibri"/>
              </a:rPr>
              <a:t>Credibility rule: label every modelled number as modelled — the raw measurements are always one file away.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Roadmap — From PoC to Full Final-Year Project</a:t>
            </a:r>
          </a:p>
          <a:p>
            <a:r>
              <a:rPr sz="1300" b="0" i="0">
                <a:solidFill>
                  <a:srgbClr val="BFD3EE"/>
                </a:solidFill>
                <a:latin typeface="Calibri"/>
              </a:rPr>
              <a:t>Paper Section VIII (Future Work), phased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3108960" cy="822960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1 · Real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77639" y="1417320"/>
            <a:ext cx="7589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GTFS / GPS feed replaces the synthetic generator — model interface unchanged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95728"/>
            <a:ext cx="3108960" cy="822960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2 · Real deep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39" y="2441448"/>
            <a:ext cx="7589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PyTorch LSTM / GRU in the registry, MACs estimator extended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19856"/>
            <a:ext cx="3108960" cy="822960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3 · Real hardware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465576"/>
            <a:ext cx="7589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Profile on ESP32 / Raspberry Pi; calibrate config.py with measured values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443984"/>
            <a:ext cx="3108960" cy="822960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4 · Remediation 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39" y="4489704"/>
            <a:ext cx="7589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Implement quantization / pruning the Warning System suggests; re-run to show resources drop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468112"/>
            <a:ext cx="3108960" cy="822960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5 · Fleet 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5513832"/>
            <a:ext cx="7589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Federated learning on the logging module's periodic cloud sync (paper future work)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Thank You —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BFD3EE"/>
                </a:solidFill>
                <a:latin typeface="Calibri"/>
              </a:rPr>
              <a:t>Guideline Layer for ETA Prediction in Smart Transportation — Based on Resource Awareness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D8E2F3"/>
                </a:solidFill>
                <a:latin typeface="Calibri"/>
              </a:rPr>
              <a:t>elangokandhasamy284@gmail.com  ·  Dept. of AI &amp; DS, Nandha Engineering College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